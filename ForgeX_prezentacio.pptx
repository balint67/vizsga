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68" r:id="rId16"/>
    <p:sldId id="273" r:id="rId17"/>
    <p:sldId id="272" r:id="rId18"/>
    <p:sldId id="269" r:id="rId19"/>
    <p:sldId id="274" r:id="rId2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CE66225-AF3B-9125-C21D-ABD26BF6C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CB541B8-FDA1-3B78-CF2C-E353C1F6E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41EDBEF-8A81-81D4-F1A5-D62D0066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7EFD2D4-0FB2-385C-E87D-022EA1C7F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530F4A-1850-F74B-3194-DFE4AA54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0091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38AD4A-4E45-3E4A-C792-74E2ACFE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269417E-313A-79D7-6A99-FB3AAAF89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BF8C648-D930-ADC9-4263-D2BC5FF8C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3096FB-2476-6DC1-E9B4-04CE54E9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750DFBD-3225-9B8A-ACA8-0CD7ABA68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4569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F71F9E6-3B61-8294-718B-4C3421D1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19A0E37-C9E3-F747-124A-813DF511E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C7AE7C-9029-1BB1-0897-B9DD7377B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FA24CC-DC25-4942-ACD6-81461F93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83B530-EA74-58BA-EA6D-4E57972E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7979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14747F-0B66-1F47-26EA-F3B63ECF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C1D85BC-440E-240F-A1B2-8BEB72F70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15DAD4-7C7F-CBA2-18AA-30A33B167F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0C4B287-D261-06F4-B3B7-C45866655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A666FB8-E418-DFFD-A9A1-443DC03B0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3D3C4A7-21AF-9B1B-9384-D89D6042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36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EE228A-6F61-B766-99DC-5EE261632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7BE2BA8-D57C-0876-F17F-50036678D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B0D9722-14B7-2BB3-C6A9-B4F9CB37B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BBE43990-3846-7DA2-3EC0-8A7D4DB1C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80A92C1E-D0E8-2839-6270-D07D008CD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D05A003D-53C6-402C-09F0-9459CC709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FCCDE76F-6F7C-7EB2-1BBA-16B3B303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BCBF091-3505-48F4-EC7F-128D50FD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2813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60F973-745E-3A38-F0E7-F7317008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D73F11E-14EA-3DAC-25E4-8E8CA1EF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0D166BA-35EE-D5B7-44BD-F848B0B64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0F8203B-46C7-07E8-D1F2-4CCA91145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5123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DE35AF6-90F4-C3D4-9D06-672FEC55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65F4541-A999-8A38-8596-86DF05C23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B377B74-D74B-3C90-F85F-BAB0CB20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196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218FE88-D3C5-871D-2C82-95E119D45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D30F60-1A25-9BB4-F51B-5A0843AC5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DB1B4D6-EBC3-C081-9814-42768A4C5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4E3859C-A991-9CDE-DB21-CE9F2C6F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17BEF6A-0AB2-C24D-FC01-A36665D3B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8E155E3-F9B4-0273-44B8-88CB214AB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3015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BD4DE0-7D96-50F3-2BBD-37295B8A2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10C35BB-0BC7-19A5-ACE9-CAED41BEC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A9C878B-A8CF-3212-816E-17CCFB840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D7CBC9D-3A95-E341-FBC4-0C640F972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3E3E9E4-7D6E-7A42-5AC1-B71064F4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54C4522-9569-73C9-A086-35E23C7E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5316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011F42-A337-545E-3E88-EF5E0924D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7345BD1-C207-97CA-9E4B-C104F9491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033A2A0-6002-0E8D-3CC0-EA0615AEA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4A78972-DD52-F7F8-C855-4558A39F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4CA0A87-4C77-A8D0-285D-7C5D0719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6032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9BED6FA-5066-285B-19FB-95277B7F9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94F5327-209F-9201-80CE-C30F37C22B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5AFEE2B-26F3-7329-953F-56C3F925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35556F9-9C82-D127-7384-8C72D397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2E03D27-20FD-7589-739C-CBB1CD4BB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811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3F8A72F5-B763-92F2-B631-8589686BD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6CB2DF-2E65-4C94-106C-D7D67C181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0CB72CC-53E7-23EA-A0D4-7858C89E05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6FC2A-CD81-499B-A86A-2C07D11D6218}" type="datetimeFigureOut">
              <a:rPr lang="hu-HU" smtClean="0"/>
              <a:t>2026. 05. 07.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B37A5C8-9AFB-EDA4-4030-52853B4C6B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0F55922-5662-674B-6677-0DFE507B0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16D7E-824D-4EB8-BB47-518FC9BF49D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3215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FBDE9C0-A67C-9D74-390E-5D29D988D5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16600" dirty="0" err="1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Forge</a:t>
            </a:r>
            <a:r>
              <a:rPr lang="hu-HU" sz="16600" dirty="0" err="1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X</a:t>
            </a:r>
            <a:endParaRPr lang="hu-HU" dirty="0">
              <a:solidFill>
                <a:srgbClr val="00B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7C2B335-0D0F-BC3A-AD62-CE10E6419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73538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hu-HU" dirty="0">
                <a:solidFill>
                  <a:schemeClr val="bg1"/>
                </a:solidFill>
                <a:latin typeface="Monotype Corsiva" panose="03010101010201010101" pitchFamily="66" charset="0"/>
              </a:rPr>
              <a:t>Készítette: </a:t>
            </a:r>
            <a:r>
              <a:rPr lang="hu-HU" dirty="0" err="1">
                <a:solidFill>
                  <a:schemeClr val="bg1"/>
                </a:solidFill>
                <a:latin typeface="Monotype Corsiva" panose="03010101010201010101" pitchFamily="66" charset="0"/>
              </a:rPr>
              <a:t>Haas</a:t>
            </a:r>
            <a:r>
              <a:rPr lang="hu-HU" dirty="0">
                <a:solidFill>
                  <a:schemeClr val="bg1"/>
                </a:solidFill>
                <a:latin typeface="Monotype Corsiva" panose="03010101010201010101" pitchFamily="66" charset="0"/>
              </a:rPr>
              <a:t> Dániel, Wágner Ferenc Mihály, Mészáros Bálint Péter</a:t>
            </a:r>
          </a:p>
          <a:p>
            <a:endParaRPr lang="hu-HU" sz="1800" dirty="0">
              <a:solidFill>
                <a:schemeClr val="bg1"/>
              </a:solidFill>
              <a:latin typeface="Monotype Corsiva" panose="03010101010201010101" pitchFamily="66" charset="0"/>
            </a:endParaRPr>
          </a:p>
          <a:p>
            <a:r>
              <a:rPr lang="hu-HU" sz="1800" dirty="0">
                <a:solidFill>
                  <a:schemeClr val="bg1"/>
                </a:solidFill>
                <a:latin typeface="Monotype Corsiva" panose="03010101010201010101" pitchFamily="66" charset="0"/>
              </a:rPr>
              <a:t>Képzés: Szoftverfejlesztő és tesztelő</a:t>
            </a:r>
          </a:p>
          <a:p>
            <a:endParaRPr lang="hu-HU" sz="1800" dirty="0">
              <a:solidFill>
                <a:schemeClr val="bg1"/>
              </a:solidFill>
              <a:latin typeface="Monotype Corsiva" panose="03010101010201010101" pitchFamily="66" charset="0"/>
            </a:endParaRPr>
          </a:p>
          <a:p>
            <a:r>
              <a:rPr lang="hu-HU" sz="1800" dirty="0">
                <a:solidFill>
                  <a:schemeClr val="bg1"/>
                </a:solidFill>
                <a:latin typeface="Monotype Corsiva" panose="03010101010201010101" pitchFamily="66" charset="0"/>
              </a:rPr>
              <a:t>Intézmény: Bocskai István Református Oktatási Központ</a:t>
            </a:r>
          </a:p>
        </p:txBody>
      </p:sp>
    </p:spTree>
    <p:extLst>
      <p:ext uri="{BB962C8B-B14F-4D97-AF65-F5344CB8AC3E}">
        <p14:creationId xmlns:p14="http://schemas.microsoft.com/office/powerpoint/2010/main" val="51202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802481" y="0"/>
            <a:ext cx="3000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 projekt célja: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F23F43C-E36F-E187-A818-87AA2BF466DF}"/>
              </a:ext>
            </a:extLst>
          </p:cNvPr>
          <p:cNvSpPr txBox="1"/>
          <p:nvPr/>
        </p:nvSpPr>
        <p:spPr>
          <a:xfrm>
            <a:off x="449104" y="2666937"/>
            <a:ext cx="40814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Egészségtudatos életmód támogatása méréstől a megvalósításig. </a:t>
            </a:r>
          </a:p>
          <a:p>
            <a:pPr algn="ctr"/>
            <a:endParaRPr lang="hu-HU" dirty="0">
              <a:solidFill>
                <a:schemeClr val="bg1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algn="ctr"/>
            <a:r>
              <a:rPr lang="hu-HU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Miért a </a:t>
            </a:r>
            <a:r>
              <a:rPr lang="hu-HU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Forge</a:t>
            </a:r>
            <a:r>
              <a:rPr lang="hu-HU" dirty="0" err="1">
                <a:solidFill>
                  <a:srgbClr val="00B05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X</a:t>
            </a:r>
            <a:r>
              <a:rPr lang="hu-HU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? Sok különálló alkalmazás helyett egyetlen integrált felület a sportolók számára.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F4C0E06E-7372-8EEB-D2D7-B826A56F6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825" y="0"/>
            <a:ext cx="500634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183658E-9795-3815-8C8D-C3FD967C10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64" y="0"/>
            <a:ext cx="2489836" cy="344726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469EDD2A-32E9-0E95-EEB0-ED4E633CFF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165" y="3447267"/>
            <a:ext cx="2489835" cy="34107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58293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631031" y="-18424"/>
            <a:ext cx="54649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32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Megoldás és fő funkciók: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F23F43C-E36F-E187-A818-87AA2BF466DF}"/>
              </a:ext>
            </a:extLst>
          </p:cNvPr>
          <p:cNvSpPr txBox="1"/>
          <p:nvPr/>
        </p:nvSpPr>
        <p:spPr>
          <a:xfrm>
            <a:off x="4682728" y="837346"/>
            <a:ext cx="33432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2400" b="1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platform fő moduljai:</a:t>
            </a:r>
          </a:p>
        </p:txBody>
      </p:sp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0947FF80-4ED0-35E0-8B10-B8AA2E0C0021}"/>
              </a:ext>
            </a:extLst>
          </p:cNvPr>
          <p:cNvGrpSpPr/>
          <p:nvPr/>
        </p:nvGrpSpPr>
        <p:grpSpPr>
          <a:xfrm>
            <a:off x="603183" y="1470637"/>
            <a:ext cx="3548886" cy="523220"/>
            <a:chOff x="603183" y="1470637"/>
            <a:chExt cx="3548886" cy="523220"/>
          </a:xfrm>
        </p:grpSpPr>
        <p:pic>
          <p:nvPicPr>
            <p:cNvPr id="1026" name="Picture 2" descr="Calculator - Free technology icons">
              <a:extLst>
                <a:ext uri="{FF2B5EF4-FFF2-40B4-BE49-F238E27FC236}">
                  <a16:creationId xmlns:a16="http://schemas.microsoft.com/office/drawing/2014/main" id="{9FCFC34F-1051-B568-BAB8-16D9A315E5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840" y="1524959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Szövegdoboz 1">
              <a:extLst>
                <a:ext uri="{FF2B5EF4-FFF2-40B4-BE49-F238E27FC236}">
                  <a16:creationId xmlns:a16="http://schemas.microsoft.com/office/drawing/2014/main" id="{FFA01D98-D04B-BF5A-4720-8083C109CEA3}"/>
                </a:ext>
              </a:extLst>
            </p:cNvPr>
            <p:cNvSpPr txBox="1"/>
            <p:nvPr/>
          </p:nvSpPr>
          <p:spPr>
            <a:xfrm>
              <a:off x="603183" y="1470637"/>
              <a:ext cx="3343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BMI kalkulátor</a:t>
              </a:r>
              <a:endParaRPr lang="hu-HU" sz="2800" dirty="0"/>
            </a:p>
          </p:txBody>
        </p:sp>
      </p:grp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981331EA-E9A4-E27B-B9B8-5B73E36D8564}"/>
              </a:ext>
            </a:extLst>
          </p:cNvPr>
          <p:cNvGrpSpPr/>
          <p:nvPr/>
        </p:nvGrpSpPr>
        <p:grpSpPr>
          <a:xfrm>
            <a:off x="603181" y="3282557"/>
            <a:ext cx="3548887" cy="523220"/>
            <a:chOff x="603181" y="3282557"/>
            <a:chExt cx="3548887" cy="523220"/>
          </a:xfrm>
        </p:grpSpPr>
        <p:pic>
          <p:nvPicPr>
            <p:cNvPr id="1030" name="Picture 6" descr="Anatomy - Free healthcare and medical icons">
              <a:extLst>
                <a:ext uri="{FF2B5EF4-FFF2-40B4-BE49-F238E27FC236}">
                  <a16:creationId xmlns:a16="http://schemas.microsoft.com/office/drawing/2014/main" id="{5508E7A6-685D-B715-BEAE-BA109CD30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839" y="3332725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Szövegdoboz 2">
              <a:extLst>
                <a:ext uri="{FF2B5EF4-FFF2-40B4-BE49-F238E27FC236}">
                  <a16:creationId xmlns:a16="http://schemas.microsoft.com/office/drawing/2014/main" id="{1CE7B9F2-A108-C533-E2A5-0779F458D52B}"/>
                </a:ext>
              </a:extLst>
            </p:cNvPr>
            <p:cNvSpPr txBox="1"/>
            <p:nvPr/>
          </p:nvSpPr>
          <p:spPr>
            <a:xfrm>
              <a:off x="603181" y="3282557"/>
              <a:ext cx="3343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Anatómia</a:t>
              </a:r>
              <a:endParaRPr lang="hu-HU" sz="2800" dirty="0"/>
            </a:p>
          </p:txBody>
        </p:sp>
      </p:grpSp>
      <p:grpSp>
        <p:nvGrpSpPr>
          <p:cNvPr id="9" name="Csoportba foglalás 8">
            <a:extLst>
              <a:ext uri="{FF2B5EF4-FFF2-40B4-BE49-F238E27FC236}">
                <a16:creationId xmlns:a16="http://schemas.microsoft.com/office/drawing/2014/main" id="{5D794F8E-847F-E4F3-B6DA-7788CB6A0106}"/>
              </a:ext>
            </a:extLst>
          </p:cNvPr>
          <p:cNvGrpSpPr/>
          <p:nvPr/>
        </p:nvGrpSpPr>
        <p:grpSpPr>
          <a:xfrm>
            <a:off x="603179" y="2290238"/>
            <a:ext cx="3576740" cy="523220"/>
            <a:chOff x="603179" y="2290238"/>
            <a:chExt cx="3576740" cy="523220"/>
          </a:xfrm>
        </p:grpSpPr>
        <p:pic>
          <p:nvPicPr>
            <p:cNvPr id="1028" name="Picture 4" descr="Planning - Free time and date icons">
              <a:extLst>
                <a:ext uri="{FF2B5EF4-FFF2-40B4-BE49-F238E27FC236}">
                  <a16:creationId xmlns:a16="http://schemas.microsoft.com/office/drawing/2014/main" id="{CB2BCA89-75E2-AD50-75D5-065E7092CD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690" y="2337576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0A5DBD8A-3448-D36E-1C17-35B8F80E88C0}"/>
                </a:ext>
              </a:extLst>
            </p:cNvPr>
            <p:cNvSpPr txBox="1"/>
            <p:nvPr/>
          </p:nvSpPr>
          <p:spPr>
            <a:xfrm>
              <a:off x="603179" y="2290238"/>
              <a:ext cx="3343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Edzéstervek</a:t>
              </a:r>
              <a:endParaRPr lang="hu-HU" sz="2800" dirty="0"/>
            </a:p>
          </p:txBody>
        </p:sp>
      </p:grp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BCBFD4CB-F922-CBE5-3C67-6EA7D631A770}"/>
              </a:ext>
            </a:extLst>
          </p:cNvPr>
          <p:cNvGrpSpPr/>
          <p:nvPr/>
        </p:nvGrpSpPr>
        <p:grpSpPr>
          <a:xfrm>
            <a:off x="603180" y="4081127"/>
            <a:ext cx="3576740" cy="668966"/>
            <a:chOff x="603180" y="4081127"/>
            <a:chExt cx="3576740" cy="668966"/>
          </a:xfrm>
        </p:grpSpPr>
        <p:pic>
          <p:nvPicPr>
            <p:cNvPr id="1032" name="Picture 8" descr="Trainer - Free user icons">
              <a:extLst>
                <a:ext uri="{FF2B5EF4-FFF2-40B4-BE49-F238E27FC236}">
                  <a16:creationId xmlns:a16="http://schemas.microsoft.com/office/drawing/2014/main" id="{7F7E3493-EAF5-DE40-21DA-861605AE5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691" y="4209995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977DD479-5ED6-DA45-F373-C04B1A2FEA9E}"/>
                </a:ext>
              </a:extLst>
            </p:cNvPr>
            <p:cNvSpPr txBox="1"/>
            <p:nvPr/>
          </p:nvSpPr>
          <p:spPr>
            <a:xfrm>
              <a:off x="603180" y="4081127"/>
              <a:ext cx="3343275" cy="668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00B050"/>
                </a:buClr>
              </a:pPr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Személyi edzők</a:t>
              </a:r>
            </a:p>
          </p:txBody>
        </p:sp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063855DB-6B3F-23D7-F665-7183F0C5D0DF}"/>
              </a:ext>
            </a:extLst>
          </p:cNvPr>
          <p:cNvGrpSpPr/>
          <p:nvPr/>
        </p:nvGrpSpPr>
        <p:grpSpPr>
          <a:xfrm>
            <a:off x="631031" y="5228227"/>
            <a:ext cx="3548888" cy="523220"/>
            <a:chOff x="631031" y="5228227"/>
            <a:chExt cx="3548888" cy="523220"/>
          </a:xfrm>
        </p:grpSpPr>
        <p:pic>
          <p:nvPicPr>
            <p:cNvPr id="1034" name="Picture 10" descr="Shop - Free architecture and city icons">
              <a:extLst>
                <a:ext uri="{FF2B5EF4-FFF2-40B4-BE49-F238E27FC236}">
                  <a16:creationId xmlns:a16="http://schemas.microsoft.com/office/drawing/2014/main" id="{F3A2CF8B-1928-503A-ABAC-F8946968C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8690" y="5284222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0CC888CB-0585-464A-2175-CF0C5310531F}"/>
                </a:ext>
              </a:extLst>
            </p:cNvPr>
            <p:cNvSpPr txBox="1"/>
            <p:nvPr/>
          </p:nvSpPr>
          <p:spPr>
            <a:xfrm>
              <a:off x="631031" y="5228227"/>
              <a:ext cx="3343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Webshop</a:t>
              </a:r>
              <a:endParaRPr lang="hu-HU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49957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soportba foglalás 6">
            <a:extLst>
              <a:ext uri="{FF2B5EF4-FFF2-40B4-BE49-F238E27FC236}">
                <a16:creationId xmlns:a16="http://schemas.microsoft.com/office/drawing/2014/main" id="{0947FF80-4ED0-35E0-8B10-B8AA2E0C0021}"/>
              </a:ext>
            </a:extLst>
          </p:cNvPr>
          <p:cNvGrpSpPr/>
          <p:nvPr/>
        </p:nvGrpSpPr>
        <p:grpSpPr>
          <a:xfrm>
            <a:off x="4321557" y="175237"/>
            <a:ext cx="3548886" cy="523220"/>
            <a:chOff x="603183" y="1470637"/>
            <a:chExt cx="3548886" cy="523220"/>
          </a:xfrm>
        </p:grpSpPr>
        <p:pic>
          <p:nvPicPr>
            <p:cNvPr id="1026" name="Picture 2" descr="Calculator - Free technology icons">
              <a:extLst>
                <a:ext uri="{FF2B5EF4-FFF2-40B4-BE49-F238E27FC236}">
                  <a16:creationId xmlns:a16="http://schemas.microsoft.com/office/drawing/2014/main" id="{9FCFC34F-1051-B568-BAB8-16D9A315E5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40840" y="1524959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Szövegdoboz 1">
              <a:extLst>
                <a:ext uri="{FF2B5EF4-FFF2-40B4-BE49-F238E27FC236}">
                  <a16:creationId xmlns:a16="http://schemas.microsoft.com/office/drawing/2014/main" id="{FFA01D98-D04B-BF5A-4720-8083C109CEA3}"/>
                </a:ext>
              </a:extLst>
            </p:cNvPr>
            <p:cNvSpPr txBox="1"/>
            <p:nvPr/>
          </p:nvSpPr>
          <p:spPr>
            <a:xfrm>
              <a:off x="603183" y="1470637"/>
              <a:ext cx="334327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BMI kalkulátor</a:t>
              </a:r>
              <a:endParaRPr lang="hu-HU" sz="2800" dirty="0"/>
            </a:p>
          </p:txBody>
        </p:sp>
      </p:grpSp>
      <p:pic>
        <p:nvPicPr>
          <p:cNvPr id="15" name="Kép 14">
            <a:extLst>
              <a:ext uri="{FF2B5EF4-FFF2-40B4-BE49-F238E27FC236}">
                <a16:creationId xmlns:a16="http://schemas.microsoft.com/office/drawing/2014/main" id="{EFEB4B51-77B7-D486-4A26-4BBEA7534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3754" y="1219199"/>
            <a:ext cx="7424492" cy="4794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8955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576028AD-5F95-A2EB-1A8C-7EAEB80E6B03}"/>
              </a:ext>
            </a:extLst>
          </p:cNvPr>
          <p:cNvGrpSpPr/>
          <p:nvPr/>
        </p:nvGrpSpPr>
        <p:grpSpPr>
          <a:xfrm>
            <a:off x="4913683" y="128062"/>
            <a:ext cx="2364633" cy="523220"/>
            <a:chOff x="4424362" y="242362"/>
            <a:chExt cx="2364633" cy="523220"/>
          </a:xfrm>
        </p:grpSpPr>
        <p:pic>
          <p:nvPicPr>
            <p:cNvPr id="1028" name="Picture 4" descr="Planning - Free time and date icons">
              <a:extLst>
                <a:ext uri="{FF2B5EF4-FFF2-40B4-BE49-F238E27FC236}">
                  <a16:creationId xmlns:a16="http://schemas.microsoft.com/office/drawing/2014/main" id="{CB2BCA89-75E2-AD50-75D5-065E7092CD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7766" y="298358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Szövegdoboz 3">
              <a:extLst>
                <a:ext uri="{FF2B5EF4-FFF2-40B4-BE49-F238E27FC236}">
                  <a16:creationId xmlns:a16="http://schemas.microsoft.com/office/drawing/2014/main" id="{0A5DBD8A-3448-D36E-1C17-35B8F80E88C0}"/>
                </a:ext>
              </a:extLst>
            </p:cNvPr>
            <p:cNvSpPr txBox="1"/>
            <p:nvPr/>
          </p:nvSpPr>
          <p:spPr>
            <a:xfrm>
              <a:off x="4424362" y="242362"/>
              <a:ext cx="21002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Edzéstervek</a:t>
              </a:r>
              <a:endParaRPr lang="hu-HU" sz="2800" dirty="0"/>
            </a:p>
          </p:txBody>
        </p:sp>
      </p:grpSp>
      <p:pic>
        <p:nvPicPr>
          <p:cNvPr id="15" name="Kép 14">
            <a:extLst>
              <a:ext uri="{FF2B5EF4-FFF2-40B4-BE49-F238E27FC236}">
                <a16:creationId xmlns:a16="http://schemas.microsoft.com/office/drawing/2014/main" id="{0F362D65-4727-7187-101B-F70559CDE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355" y="1143000"/>
            <a:ext cx="7965290" cy="4991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90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5">
            <a:extLst>
              <a:ext uri="{FF2B5EF4-FFF2-40B4-BE49-F238E27FC236}">
                <a16:creationId xmlns:a16="http://schemas.microsoft.com/office/drawing/2014/main" id="{F128AB94-57A2-4E64-0934-B2C9B2A44E7A}"/>
              </a:ext>
            </a:extLst>
          </p:cNvPr>
          <p:cNvGrpSpPr/>
          <p:nvPr/>
        </p:nvGrpSpPr>
        <p:grpSpPr>
          <a:xfrm>
            <a:off x="5150231" y="110732"/>
            <a:ext cx="3507993" cy="523220"/>
            <a:chOff x="4321557" y="101207"/>
            <a:chExt cx="3457294" cy="523220"/>
          </a:xfrm>
        </p:grpSpPr>
        <p:pic>
          <p:nvPicPr>
            <p:cNvPr id="1030" name="Picture 6" descr="Anatomy - Free healthcare and medical icons">
              <a:extLst>
                <a:ext uri="{FF2B5EF4-FFF2-40B4-BE49-F238E27FC236}">
                  <a16:creationId xmlns:a16="http://schemas.microsoft.com/office/drawing/2014/main" id="{5508E7A6-685D-B715-BEAE-BA109CD303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3372" y="101207"/>
              <a:ext cx="425254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Szövegdoboz 2">
              <a:extLst>
                <a:ext uri="{FF2B5EF4-FFF2-40B4-BE49-F238E27FC236}">
                  <a16:creationId xmlns:a16="http://schemas.microsoft.com/office/drawing/2014/main" id="{1CE7B9F2-A108-C533-E2A5-0779F458D52B}"/>
                </a:ext>
              </a:extLst>
            </p:cNvPr>
            <p:cNvSpPr txBox="1"/>
            <p:nvPr/>
          </p:nvSpPr>
          <p:spPr>
            <a:xfrm>
              <a:off x="4321557" y="101207"/>
              <a:ext cx="345729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Anatómia</a:t>
              </a:r>
              <a:endParaRPr lang="hu-HU" sz="2800" dirty="0"/>
            </a:p>
          </p:txBody>
        </p:sp>
      </p:grpSp>
      <p:pic>
        <p:nvPicPr>
          <p:cNvPr id="15" name="Kép 14">
            <a:extLst>
              <a:ext uri="{FF2B5EF4-FFF2-40B4-BE49-F238E27FC236}">
                <a16:creationId xmlns:a16="http://schemas.microsoft.com/office/drawing/2014/main" id="{D9D05329-AC1C-AC7F-B746-FBE0EF88E9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380" y="966787"/>
            <a:ext cx="7085239" cy="51753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36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CE8FD95E-78CA-B349-6A1A-BBFEDC9E29C0}"/>
              </a:ext>
            </a:extLst>
          </p:cNvPr>
          <p:cNvGrpSpPr/>
          <p:nvPr/>
        </p:nvGrpSpPr>
        <p:grpSpPr>
          <a:xfrm>
            <a:off x="4612430" y="0"/>
            <a:ext cx="2967139" cy="668966"/>
            <a:chOff x="603181" y="4081127"/>
            <a:chExt cx="2967139" cy="668966"/>
          </a:xfrm>
        </p:grpSpPr>
        <p:pic>
          <p:nvPicPr>
            <p:cNvPr id="1032" name="Picture 8" descr="Trainer - Free user icons">
              <a:extLst>
                <a:ext uri="{FF2B5EF4-FFF2-40B4-BE49-F238E27FC236}">
                  <a16:creationId xmlns:a16="http://schemas.microsoft.com/office/drawing/2014/main" id="{7F7E3493-EAF5-DE40-21DA-861605AE5F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59091" y="4209995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Szövegdoboz 4">
              <a:extLst>
                <a:ext uri="{FF2B5EF4-FFF2-40B4-BE49-F238E27FC236}">
                  <a16:creationId xmlns:a16="http://schemas.microsoft.com/office/drawing/2014/main" id="{977DD479-5ED6-DA45-F373-C04B1A2FEA9E}"/>
                </a:ext>
              </a:extLst>
            </p:cNvPr>
            <p:cNvSpPr txBox="1"/>
            <p:nvPr/>
          </p:nvSpPr>
          <p:spPr>
            <a:xfrm>
              <a:off x="603181" y="4081127"/>
              <a:ext cx="2673420" cy="6689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buClr>
                  <a:srgbClr val="00B050"/>
                </a:buClr>
              </a:pPr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Személyi edzők</a:t>
              </a:r>
            </a:p>
          </p:txBody>
        </p:sp>
      </p:grpSp>
      <p:pic>
        <p:nvPicPr>
          <p:cNvPr id="16" name="Kép 15">
            <a:extLst>
              <a:ext uri="{FF2B5EF4-FFF2-40B4-BE49-F238E27FC236}">
                <a16:creationId xmlns:a16="http://schemas.microsoft.com/office/drawing/2014/main" id="{E444E57D-E0CD-FC87-CED3-8916113DA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300" y="1062037"/>
            <a:ext cx="7907400" cy="5186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648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7">
            <a:extLst>
              <a:ext uri="{FF2B5EF4-FFF2-40B4-BE49-F238E27FC236}">
                <a16:creationId xmlns:a16="http://schemas.microsoft.com/office/drawing/2014/main" id="{A14FD6B8-CDD5-F523-6B3F-B116FD53B5CA}"/>
              </a:ext>
            </a:extLst>
          </p:cNvPr>
          <p:cNvGrpSpPr/>
          <p:nvPr/>
        </p:nvGrpSpPr>
        <p:grpSpPr>
          <a:xfrm>
            <a:off x="5050218" y="103777"/>
            <a:ext cx="2091563" cy="523220"/>
            <a:chOff x="631031" y="5228227"/>
            <a:chExt cx="2091563" cy="523220"/>
          </a:xfrm>
        </p:grpSpPr>
        <p:pic>
          <p:nvPicPr>
            <p:cNvPr id="1034" name="Picture 10" descr="Shop - Free architecture and city icons">
              <a:extLst>
                <a:ext uri="{FF2B5EF4-FFF2-40B4-BE49-F238E27FC236}">
                  <a16:creationId xmlns:a16="http://schemas.microsoft.com/office/drawing/2014/main" id="{F3A2CF8B-1928-503A-ABAC-F8946968C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65" y="5284222"/>
              <a:ext cx="411229" cy="411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0CC888CB-0585-464A-2175-CF0C5310531F}"/>
                </a:ext>
              </a:extLst>
            </p:cNvPr>
            <p:cNvSpPr txBox="1"/>
            <p:nvPr/>
          </p:nvSpPr>
          <p:spPr>
            <a:xfrm>
              <a:off x="631031" y="5228227"/>
              <a:ext cx="178831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800" dirty="0">
                  <a:solidFill>
                    <a:schemeClr val="bg1"/>
                  </a:solidFill>
                  <a:latin typeface="Segoe UI Emoji" panose="020B0502040204020203" pitchFamily="34" charset="0"/>
                  <a:ea typeface="Segoe UI Emoji" panose="020B0502040204020203" pitchFamily="34" charset="0"/>
                </a:rPr>
                <a:t>Webshop</a:t>
              </a:r>
              <a:endParaRPr lang="hu-HU" sz="2800" dirty="0"/>
            </a:p>
          </p:txBody>
        </p:sp>
      </p:grpSp>
      <p:pic>
        <p:nvPicPr>
          <p:cNvPr id="16" name="Kép 15">
            <a:extLst>
              <a:ext uri="{FF2B5EF4-FFF2-40B4-BE49-F238E27FC236}">
                <a16:creationId xmlns:a16="http://schemas.microsoft.com/office/drawing/2014/main" id="{0FD6F61C-0CDB-71E5-3F8A-B84F7B27C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317" y="1152125"/>
            <a:ext cx="8913365" cy="47612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6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516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Felhasznált technológiák: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CF23F43C-E36F-E187-A818-87AA2BF466DF}"/>
              </a:ext>
            </a:extLst>
          </p:cNvPr>
          <p:cNvSpPr txBox="1"/>
          <p:nvPr/>
        </p:nvSpPr>
        <p:spPr>
          <a:xfrm>
            <a:off x="963454" y="1738419"/>
            <a:ext cx="3875246" cy="3671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hu-HU" sz="4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HTML5</a:t>
            </a:r>
          </a:p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hu-HU" sz="4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CSS3</a:t>
            </a:r>
          </a:p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hu-HU" sz="4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JavaScript</a:t>
            </a:r>
          </a:p>
          <a:p>
            <a:pPr marL="285750" indent="-285750">
              <a:lnSpc>
                <a:spcPct val="150000"/>
              </a:lnSpc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hu-HU" sz="4000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Firebase</a:t>
            </a:r>
            <a:endParaRPr lang="hu-HU" sz="4000" dirty="0">
              <a:solidFill>
                <a:schemeClr val="bg1"/>
              </a:solidFill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052" name="Picture 4" descr="Orange HTML icon (png logo symbol)">
            <a:extLst>
              <a:ext uri="{FF2B5EF4-FFF2-40B4-BE49-F238E27FC236}">
                <a16:creationId xmlns:a16="http://schemas.microsoft.com/office/drawing/2014/main" id="{DAE209E0-9BCE-81E6-6A0E-71D3730CC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113" y="1738419"/>
            <a:ext cx="876300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javascript logo png, javascript icon transparent png 27127463 PNG">
            <a:extLst>
              <a:ext uri="{FF2B5EF4-FFF2-40B4-BE49-F238E27FC236}">
                <a16:creationId xmlns:a16="http://schemas.microsoft.com/office/drawing/2014/main" id="{33E8208B-5500-2BF4-8298-5103580EC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4775" y="3634457"/>
            <a:ext cx="876301" cy="876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irebase Logo Icon 72678006 PNG">
            <a:extLst>
              <a:ext uri="{FF2B5EF4-FFF2-40B4-BE49-F238E27FC236}">
                <a16:creationId xmlns:a16="http://schemas.microsoft.com/office/drawing/2014/main" id="{4D891D92-4AD8-82DA-9C18-044296207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2" y="4593378"/>
            <a:ext cx="733425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Css 3 - Free computer icons">
            <a:extLst>
              <a:ext uri="{FF2B5EF4-FFF2-40B4-BE49-F238E27FC236}">
                <a16:creationId xmlns:a16="http://schemas.microsoft.com/office/drawing/2014/main" id="{23497953-DA40-24F4-0BA0-F65F2779A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2" y="2814319"/>
            <a:ext cx="693103" cy="6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63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516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Rendszerarchitektúra: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057D4-1AB6-03A4-2BB0-65F9A700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878354"/>
            <a:ext cx="79533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Kliens-szerver felépítés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Firebase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alapon.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Moduláris JavaScript felépítés (firebase.js, utils.js, auth-header.js).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Dinamikus tartalomkezelés és valós idejű szinkronizáció.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B8B88568-7B0B-0CC2-9460-6C656AAA8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" y="2113092"/>
            <a:ext cx="8162925" cy="44561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030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516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Adatbázis felépítése: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95FA970-38FD-452E-C641-2F61FF6A3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2" y="1018217"/>
            <a:ext cx="8334375" cy="1889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Adatszerkezet a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Firestore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-ban:</a:t>
            </a: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Főbb gyűjtemények: </a:t>
            </a:r>
            <a:r>
              <a:rPr kumimoji="0" lang="hu-HU" altLang="hu-HU" sz="200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users</a:t>
            </a: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(profiladatok), </a:t>
            </a:r>
            <a:r>
              <a:rPr kumimoji="0" lang="hu-HU" altLang="hu-HU" sz="200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carts</a:t>
            </a: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(kosár), </a:t>
            </a:r>
            <a:r>
              <a:rPr kumimoji="0" lang="hu-HU" altLang="hu-HU" sz="200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reviews</a:t>
            </a: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(vélemények), </a:t>
            </a:r>
            <a:r>
              <a:rPr kumimoji="0" lang="hu-HU" altLang="hu-HU" sz="200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bookings</a:t>
            </a: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(időpontok) </a:t>
            </a:r>
            <a:r>
              <a:rPr kumimoji="0" lang="hu-HU" altLang="hu-HU" sz="200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favourites</a:t>
            </a:r>
            <a:r>
              <a:rPr kumimoji="0" lang="hu-HU" altLang="hu-HU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(kedvencek). </a:t>
            </a:r>
          </a:p>
        </p:txBody>
      </p:sp>
      <p:pic>
        <p:nvPicPr>
          <p:cNvPr id="4100" name="Picture 4" descr="Free User Group SVG, PNG Icon, Symbol. Download Image.">
            <a:extLst>
              <a:ext uri="{FF2B5EF4-FFF2-40B4-BE49-F238E27FC236}">
                <a16:creationId xmlns:a16="http://schemas.microsoft.com/office/drawing/2014/main" id="{06114A78-368C-7E77-73CD-A626AB475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385" y="3594735"/>
            <a:ext cx="20955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view - Free marketing icons">
            <a:extLst>
              <a:ext uri="{FF2B5EF4-FFF2-40B4-BE49-F238E27FC236}">
                <a16:creationId xmlns:a16="http://schemas.microsoft.com/office/drawing/2014/main" id="{5CE3F2AC-8380-FF12-532F-5F3CB4BF8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450" y="3594734"/>
            <a:ext cx="2095501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Booking - Free commerce and shopping icons">
            <a:extLst>
              <a:ext uri="{FF2B5EF4-FFF2-40B4-BE49-F238E27FC236}">
                <a16:creationId xmlns:a16="http://schemas.microsoft.com/office/drawing/2014/main" id="{409F44F6-9706-CBE1-0499-AF3576A73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042" y="3762375"/>
            <a:ext cx="1623597" cy="1623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Favorite - Free shapes icons">
            <a:extLst>
              <a:ext uri="{FF2B5EF4-FFF2-40B4-BE49-F238E27FC236}">
                <a16:creationId xmlns:a16="http://schemas.microsoft.com/office/drawing/2014/main" id="{0A1AF8D5-425D-CE4E-9BB1-A478C1912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840" y="3762375"/>
            <a:ext cx="1619905" cy="1619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Shopping cart Generic Flat icon | Freepik">
            <a:extLst>
              <a:ext uri="{FF2B5EF4-FFF2-40B4-BE49-F238E27FC236}">
                <a16:creationId xmlns:a16="http://schemas.microsoft.com/office/drawing/2014/main" id="{2FA9DD91-0BD2-7E9E-B61C-A15225BAB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188" y="3534430"/>
            <a:ext cx="1847850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636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516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Felhasználói élmény: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F68FE3-2BBE-B1F2-5D37-323A01D79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4" y="2488165"/>
            <a:ext cx="5160170" cy="1881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Modern, reszponzív megjelenés.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Végtelenített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slider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, interaktív anatómiai térkép, sötét/sportos téma. Teljes </a:t>
            </a:r>
            <a:r>
              <a:rPr kumimoji="0" lang="hu-HU" altLang="hu-HU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reszponzivitás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(mobil-asztali váltás). </a:t>
            </a:r>
          </a:p>
        </p:txBody>
      </p:sp>
      <p:pic>
        <p:nvPicPr>
          <p:cNvPr id="5124" name="Picture 4" descr="Pc - Free icons">
            <a:extLst>
              <a:ext uri="{FF2B5EF4-FFF2-40B4-BE49-F238E27FC236}">
                <a16:creationId xmlns:a16="http://schemas.microsoft.com/office/drawing/2014/main" id="{8B21FD52-7F11-180A-0381-0EDB54890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798" y="833110"/>
            <a:ext cx="222885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Mobile phone - Free technology icons">
            <a:extLst>
              <a:ext uri="{FF2B5EF4-FFF2-40B4-BE49-F238E27FC236}">
                <a16:creationId xmlns:a16="http://schemas.microsoft.com/office/drawing/2014/main" id="{668782A1-19B1-41A2-FD30-FFF73041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075" y="3524250"/>
            <a:ext cx="21050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Tick - Free interface icons">
            <a:extLst>
              <a:ext uri="{FF2B5EF4-FFF2-40B4-BE49-F238E27FC236}">
                <a16:creationId xmlns:a16="http://schemas.microsoft.com/office/drawing/2014/main" id="{E5B0F98A-3F59-AB10-8510-D5C128643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1198752"/>
            <a:ext cx="1497565" cy="149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Tick - Free interface icons">
            <a:extLst>
              <a:ext uri="{FF2B5EF4-FFF2-40B4-BE49-F238E27FC236}">
                <a16:creationId xmlns:a16="http://schemas.microsoft.com/office/drawing/2014/main" id="{B9A986FF-5A3F-5670-D087-3F048BB60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600" y="3827979"/>
            <a:ext cx="1497565" cy="149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580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6A75A7EC-203F-F5C9-43EA-6CF889718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40" y="1315159"/>
            <a:ext cx="9405719" cy="4545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25F9ACE2-C403-70B9-A4DB-63C637F5B561}"/>
              </a:ext>
            </a:extLst>
          </p:cNvPr>
          <p:cNvSpPr txBox="1"/>
          <p:nvPr/>
        </p:nvSpPr>
        <p:spPr>
          <a:xfrm>
            <a:off x="4166366" y="19050"/>
            <a:ext cx="38592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Asztali számítógép:</a:t>
            </a:r>
          </a:p>
        </p:txBody>
      </p:sp>
    </p:spTree>
    <p:extLst>
      <p:ext uri="{BB962C8B-B14F-4D97-AF65-F5344CB8AC3E}">
        <p14:creationId xmlns:p14="http://schemas.microsoft.com/office/powerpoint/2010/main" val="2656569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1134905" y="123825"/>
            <a:ext cx="1379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Mobil: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039BAB1-3C42-11A1-9D57-5BEB87D3D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175" y="0"/>
            <a:ext cx="311579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5475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348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Kiemelt funkciók: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057D4-1AB6-03A4-2BB0-65F9A700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780" y="1917262"/>
            <a:ext cx="5761195" cy="323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Időpontfoglalás: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</a:b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felhasználónak lehetősége van az általa kiválasztott edzőhöz különböző edzésekre jelentkezni.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Ezt a</a:t>
            </a: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z </a:t>
            </a:r>
            <a:r>
              <a:rPr lang="hu-HU" altLang="hu-HU" sz="2000" dirty="0">
                <a:solidFill>
                  <a:srgbClr val="00B05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Időpontfoglalás</a:t>
            </a: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fülön az egyedi naptár segítségével teheti meg.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774B048-2556-81D6-BD25-52BB29DA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487" y="1485899"/>
            <a:ext cx="5979065" cy="43719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7791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3484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Kiemelt funkciók: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057D4-1AB6-03A4-2BB0-65F9A700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30" y="1107322"/>
            <a:ext cx="5323045" cy="5205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Webshop:</a:t>
            </a:r>
            <a:b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</a:b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 Emoji" panose="020B0502040204020203" pitchFamily="34" charset="0"/>
              <a:ea typeface="Segoe UI Emoj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</a:t>
            </a:r>
            <a:r>
              <a:rPr lang="hu-HU" sz="2000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Forge</a:t>
            </a:r>
            <a:r>
              <a:rPr lang="hu-HU" sz="2000" dirty="0" err="1">
                <a:solidFill>
                  <a:srgbClr val="00B050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X</a:t>
            </a: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webshopja egy olyan dinamikus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e-kereskedelmi modul, amely a </a:t>
            </a:r>
            <a:r>
              <a:rPr lang="hu-HU" sz="2000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Firebase</a:t>
            </a: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</a:t>
            </a:r>
            <a:r>
              <a:rPr lang="hu-HU" sz="2000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Firestore</a:t>
            </a: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-ban tárolt </a:t>
            </a:r>
            <a:r>
              <a:rPr lang="hu-HU" sz="2000" dirty="0" err="1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termékadatokat</a:t>
            </a:r>
            <a:r>
              <a:rPr 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 valós időben szinkronizálja a kosár tartalmával, biztosítva a felhasználók számára a zökkenőmentes termékböngészést.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Valamint egy szintén valós idejű dinamikusan változó szűrőt is beépítettünk a könnyedebb vásárlásért.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1A78013D-4D6E-DD84-C2E0-A8E0FE0AF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817" y="1685513"/>
            <a:ext cx="5739853" cy="37818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867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4180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Tesztelési folyamatok: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057D4-1AB6-03A4-2BB0-65F9A700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929" y="2362108"/>
            <a:ext cx="3932396" cy="234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A weboldalt manuálisan teszteltük amiknek az eredményét a dokumentációban rögzítettünk és képekkel illusztráltunk.</a:t>
            </a:r>
            <a:endParaRPr kumimoji="0" lang="hu-HU" altLang="hu-HU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0918F840-6CC4-4103-D482-69F6518C1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2257333"/>
            <a:ext cx="5357649" cy="3229268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99AF96A8-5BBA-40BA-CF78-70FDFCC8C6B9}"/>
              </a:ext>
            </a:extLst>
          </p:cNvPr>
          <p:cNvSpPr txBox="1"/>
          <p:nvPr/>
        </p:nvSpPr>
        <p:spPr>
          <a:xfrm>
            <a:off x="7696200" y="1733550"/>
            <a:ext cx="1685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Példa a tesztelésre:</a:t>
            </a:r>
          </a:p>
        </p:txBody>
      </p:sp>
    </p:spTree>
    <p:extLst>
      <p:ext uri="{BB962C8B-B14F-4D97-AF65-F5344CB8AC3E}">
        <p14:creationId xmlns:p14="http://schemas.microsoft.com/office/powerpoint/2010/main" val="3079188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zövegdoboz 10">
            <a:extLst>
              <a:ext uri="{FF2B5EF4-FFF2-40B4-BE49-F238E27FC236}">
                <a16:creationId xmlns:a16="http://schemas.microsoft.com/office/drawing/2014/main" id="{0ADBC687-3372-7D77-3617-406C394CA1C3}"/>
              </a:ext>
            </a:extLst>
          </p:cNvPr>
          <p:cNvSpPr txBox="1"/>
          <p:nvPr/>
        </p:nvSpPr>
        <p:spPr>
          <a:xfrm>
            <a:off x="449104" y="0"/>
            <a:ext cx="5160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Terveink a jövőben: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057D4-1AB6-03A4-2BB0-65F9A700A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104" y="2443370"/>
            <a:ext cx="5961221" cy="2343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AI asszisztens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Személyre szabott étrendek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Terméklista bővítése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Több edzőterem világszert</a:t>
            </a: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Új edzővel és dietetikussal való eg</a:t>
            </a:r>
            <a:r>
              <a:rPr lang="hu-HU" altLang="hu-HU" sz="2000" dirty="0">
                <a:solidFill>
                  <a:schemeClr val="bg1"/>
                </a:solidFill>
                <a:latin typeface="Segoe UI Emoji" panose="020B0502040204020203" pitchFamily="34" charset="0"/>
                <a:ea typeface="Segoe UI Emoji" panose="020B0502040204020203" pitchFamily="34" charset="0"/>
              </a:rPr>
              <a:t>yüttműködés</a:t>
            </a:r>
            <a:r>
              <a:rPr kumimoji="0" lang="hu-HU" altLang="hu-HU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 Emoji" panose="020B0502040204020203" pitchFamily="34" charset="0"/>
                <a:ea typeface="Segoe UI Emoji" panose="020B0502040204020203" pitchFamily="34" charset="0"/>
              </a:rPr>
              <a:t> </a:t>
            </a:r>
          </a:p>
        </p:txBody>
      </p:sp>
      <p:pic>
        <p:nvPicPr>
          <p:cNvPr id="6146" name="Picture 2" descr="Ai - Free technology icons">
            <a:extLst>
              <a:ext uri="{FF2B5EF4-FFF2-40B4-BE49-F238E27FC236}">
                <a16:creationId xmlns:a16="http://schemas.microsoft.com/office/drawing/2014/main" id="{A5ACBE3D-A6D1-A93B-152C-022C757F7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23220"/>
            <a:ext cx="2343335" cy="234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ealthy food Chanut is Industries Lineal Color icon | Freepik">
            <a:extLst>
              <a:ext uri="{FF2B5EF4-FFF2-40B4-BE49-F238E27FC236}">
                <a16:creationId xmlns:a16="http://schemas.microsoft.com/office/drawing/2014/main" id="{777D69EE-FAFC-ACED-41A1-7428D2668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2148" y="2152486"/>
            <a:ext cx="2553028" cy="25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roduct - Free shipping and delivery icons">
            <a:extLst>
              <a:ext uri="{FF2B5EF4-FFF2-40B4-BE49-F238E27FC236}">
                <a16:creationId xmlns:a16="http://schemas.microsoft.com/office/drawing/2014/main" id="{1C1DD2AA-DD61-F8D0-3633-4A4A43CD5D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525" y="3819996"/>
            <a:ext cx="219075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949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1">
            <a:extLst>
              <a:ext uri="{FF2B5EF4-FFF2-40B4-BE49-F238E27FC236}">
                <a16:creationId xmlns:a16="http://schemas.microsoft.com/office/drawing/2014/main" id="{36D70191-298E-0958-86D7-402D41FB3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2050" y="1284288"/>
            <a:ext cx="9867900" cy="3802062"/>
          </a:xfrm>
        </p:spPr>
        <p:txBody>
          <a:bodyPr>
            <a:noAutofit/>
          </a:bodyPr>
          <a:lstStyle/>
          <a:p>
            <a:r>
              <a:rPr lang="hu-HU" sz="115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Köszönjük a figyelmet</a:t>
            </a:r>
            <a:r>
              <a:rPr lang="hu-HU" sz="11500" dirty="0">
                <a:solidFill>
                  <a:srgbClr val="00B05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!</a:t>
            </a:r>
            <a:endParaRPr lang="hu-HU" sz="4400" dirty="0">
              <a:solidFill>
                <a:srgbClr val="00B05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1293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298</Words>
  <Application>Microsoft Office PowerPoint</Application>
  <PresentationFormat>Szélesvásznú</PresentationFormat>
  <Paragraphs>59</Paragraphs>
  <Slides>19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Monotype Corsiva</vt:lpstr>
      <vt:lpstr>Segoe UI Black</vt:lpstr>
      <vt:lpstr>Segoe UI Emoji</vt:lpstr>
      <vt:lpstr>Office-téma</vt:lpstr>
      <vt:lpstr>ForgeX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ForgeX</dc:title>
  <dc:creator>Bálint Mészáros</dc:creator>
  <cp:lastModifiedBy>Bálint Mészáros</cp:lastModifiedBy>
  <cp:revision>1</cp:revision>
  <dcterms:created xsi:type="dcterms:W3CDTF">2026-05-07T16:29:10Z</dcterms:created>
  <dcterms:modified xsi:type="dcterms:W3CDTF">2026-05-07T20:08:35Z</dcterms:modified>
</cp:coreProperties>
</file>